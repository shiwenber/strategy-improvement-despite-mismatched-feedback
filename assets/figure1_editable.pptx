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7145000" cy="100965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ciprocity_method_overview_e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ciprocity_method_overview_e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5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9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7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55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4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25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205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9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75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6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45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3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shared-setting"/>
          <p:cNvGrpSpPr/>
          <p:nvPr/>
        </p:nvGrpSpPr>
        <p:grpSpPr>
          <a:xfrm>
            <a:off x="422910" y="342900"/>
            <a:ext cx="3129103" cy="8779193"/>
            <a:chOff x="422910" y="342900"/>
            <a:chExt cx="3129103" cy="8779193"/>
          </a:xfrm>
        </p:grpSpPr>
        <p:sp>
          <p:nvSpPr>
            <p:cNvPr id="2" name="TextBox 2"/>
            <p:cNvSpPr txBox="1"/>
            <p:nvPr/>
          </p:nvSpPr>
          <p:spPr>
            <a:xfrm>
              <a:off x="422910" y="342900"/>
              <a:ext cx="2551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54583" y="407670"/>
              <a:ext cx="26908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Direct reciprocity</a:t>
              </a:r>
            </a:p>
          </p:txBody>
        </p:sp>
        <p:sp>
          <p:nvSpPr>
            <p:cNvPr id="4" name="Ellipse 4"/>
            <p:cNvSpPr/>
            <p:nvPr/>
          </p:nvSpPr>
          <p:spPr>
            <a:xfrm>
              <a:off x="876300" y="10858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819150" y="1657350"/>
              <a:ext cx="590550" cy="590550"/>
            </a:xfrm>
            <a:prstGeom prst="roundRect">
              <a:avLst>
                <a:gd name="adj" fmla="val 1935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03562" y="2350770"/>
              <a:ext cx="2217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533650" y="10858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476500" y="1657350"/>
              <a:ext cx="590550" cy="590550"/>
            </a:xfrm>
            <a:prstGeom prst="roundRect">
              <a:avLst>
                <a:gd name="adj" fmla="val 1935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991538" y="2350770"/>
              <a:ext cx="156047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Opponent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524000" y="1543050"/>
              <a:ext cx="828675" cy="1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H="1">
              <a:off x="1524000" y="1971675"/>
              <a:ext cx="828675" cy="1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67176" y="1147762"/>
              <a:ext cx="7518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 / 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67176" y="2128838"/>
              <a:ext cx="7518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 / 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5102" y="2846070"/>
              <a:ext cx="3015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Repeated interaction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2035" y="3255645"/>
              <a:ext cx="16411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100 rounds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04825" y="383857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1871" y="4020502"/>
              <a:ext cx="25538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population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47700" y="4505325"/>
              <a:ext cx="342900" cy="3429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216" y="4538662"/>
              <a:ext cx="2078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371600" y="45053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095500" y="45053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819400" y="45053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47700" y="501967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371600" y="501967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095500" y="5019675"/>
              <a:ext cx="342900" cy="34290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63016" y="5053012"/>
              <a:ext cx="20786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2819400" y="501967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47700" y="55340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371600" y="55340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2095500" y="55340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819400" y="5534025"/>
              <a:ext cx="342900" cy="342900"/>
            </a:xfrm>
            <a:prstGeom prst="ellipse">
              <a:avLst/>
            </a:prstGeom>
            <a:solidFill>
              <a:schemeClr val="accent6"/>
            </a:solidFill>
            <a:ln w="23812">
              <a:solidFill>
                <a:schemeClr val="accent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2920" y="6053138"/>
              <a:ext cx="2516715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q: another strategy</a:t>
              </a:r>
              <a:br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from this population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04825" y="6962775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01396" y="7097078"/>
              <a:ext cx="23254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Shared inputs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02158" y="7513320"/>
              <a:ext cx="2658709" cy="878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Parent + all code</a:t>
              </a:r>
              <a:br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Rules + true scores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2920" y="8339138"/>
              <a:ext cx="2326405" cy="7829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populations</a:t>
              </a:r>
              <a:br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60 shared parents</a:t>
              </a:r>
            </a:p>
          </p:txBody>
        </p:sp>
      </p:grpSp>
      <p:grpSp>
        <p:nvGrpSpPr>
          <p:cNvPr id="143" name="report-ownership"/>
          <p:cNvGrpSpPr/>
          <p:nvPr/>
        </p:nvGrpSpPr>
        <p:grpSpPr>
          <a:xfrm>
            <a:off x="4042410" y="342900"/>
            <a:ext cx="6930390" cy="8655367"/>
            <a:chOff x="4042410" y="342900"/>
            <a:chExt cx="6930390" cy="8655367"/>
          </a:xfrm>
        </p:grpSpPr>
        <p:sp>
          <p:nvSpPr>
            <p:cNvPr id="38" name="TextBox 38"/>
            <p:cNvSpPr txBox="1"/>
            <p:nvPr/>
          </p:nvSpPr>
          <p:spPr>
            <a:xfrm>
              <a:off x="4042410" y="342900"/>
              <a:ext cx="27715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72559" y="375285"/>
              <a:ext cx="60582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Change the report, keep the parent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095750" y="1047750"/>
              <a:ext cx="687705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35958" y="1169670"/>
              <a:ext cx="22972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Run separately: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10350" y="1104900"/>
              <a:ext cx="2000250" cy="447675"/>
            </a:xfrm>
            <a:prstGeom prst="roundRect">
              <a:avLst>
                <a:gd name="adj" fmla="val 212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99638" y="1169670"/>
              <a:ext cx="20216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Thinking OFF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82050" y="1104900"/>
              <a:ext cx="2000250" cy="447675"/>
            </a:xfrm>
            <a:prstGeom prst="roundRect">
              <a:avLst>
                <a:gd name="adj" fmla="val 2127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856908" y="1169670"/>
              <a:ext cx="1850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Thinking 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87965" y="1892618"/>
              <a:ext cx="16826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Accurate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324600" y="2505075"/>
              <a:ext cx="476250" cy="4762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44933" y="2572702"/>
              <a:ext cx="2355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562725" y="3000375"/>
              <a:ext cx="1" cy="266700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72508" y="2938462"/>
              <a:ext cx="11206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Probe F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95975" y="3419475"/>
              <a:ext cx="1333500" cy="1352550"/>
            </a:xfrm>
            <a:prstGeom prst="roundRect">
              <a:avLst>
                <a:gd name="adj" fmla="val 1429"/>
              </a:avLst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75435" y="3566160"/>
              <a:ext cx="7745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D(p)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6057900" y="4010025"/>
              <a:ext cx="1009650" cy="9525"/>
            </a:xfrm>
            <a:custGeom>
              <a:avLst/>
              <a:gdLst/>
              <a:ahLst/>
              <a:cxnLst/>
              <a:rect l="l" t="t" r="r" b="b"/>
              <a:pathLst>
                <a:path w="1009650" h="9525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096000" y="41814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6267450" y="42100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096000" y="4381500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6267450" y="44100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096000" y="45815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Line 59"/>
            <p:cNvSpPr/>
            <p:nvPr/>
          </p:nvSpPr>
          <p:spPr>
            <a:xfrm>
              <a:off x="6267450" y="4610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4343400" y="3695700"/>
              <a:ext cx="1028700" cy="1076325"/>
            </a:xfrm>
            <a:prstGeom prst="roundRect">
              <a:avLst>
                <a:gd name="adj" fmla="val 6481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4343400" y="3914775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4429125" y="37814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552950" y="37814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4676775" y="37814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726100" y="4016692"/>
              <a:ext cx="26330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4495800" y="4524375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4495800" y="46482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395885" y="3252788"/>
              <a:ext cx="9237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Parent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4848225" y="4838700"/>
              <a:ext cx="533400" cy="400050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70" name="Line 70"/>
            <p:cNvSpPr/>
            <p:nvPr/>
          </p:nvSpPr>
          <p:spPr>
            <a:xfrm flipH="1">
              <a:off x="6257925" y="4838700"/>
              <a:ext cx="304800" cy="400050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1" name="Rectangle 71"/>
            <p:cNvSpPr/>
            <p:nvPr/>
          </p:nvSpPr>
          <p:spPr>
            <a:xfrm>
              <a:off x="4524375" y="5238750"/>
              <a:ext cx="260985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4728151" y="5380943"/>
              <a:ext cx="605697" cy="445066"/>
            </a:xfrm>
            <a:custGeom>
              <a:avLst/>
              <a:gdLst/>
              <a:ahLst/>
              <a:cxnLst/>
              <a:rect l="l" t="t" r="r" b="b"/>
              <a:pathLst>
                <a:path w="605697" h="445066">
                  <a:moveTo>
                    <a:pt x="599052" y="37713"/>
                  </a:moveTo>
                  <a:cubicBezTo>
                    <a:pt x="592701" y="34601"/>
                    <a:pt x="589966" y="40531"/>
                    <a:pt x="586252" y="43544"/>
                  </a:cubicBezTo>
                  <a:cubicBezTo>
                    <a:pt x="584981" y="44516"/>
                    <a:pt x="583907" y="45779"/>
                    <a:pt x="582832" y="46946"/>
                  </a:cubicBezTo>
                  <a:cubicBezTo>
                    <a:pt x="573550" y="56859"/>
                    <a:pt x="562705" y="63372"/>
                    <a:pt x="548536" y="62594"/>
                  </a:cubicBezTo>
                  <a:cubicBezTo>
                    <a:pt x="527822" y="61427"/>
                    <a:pt x="510137" y="67941"/>
                    <a:pt x="494503" y="83784"/>
                  </a:cubicBezTo>
                  <a:cubicBezTo>
                    <a:pt x="491181" y="64248"/>
                    <a:pt x="480141" y="52582"/>
                    <a:pt x="463334" y="45099"/>
                  </a:cubicBezTo>
                  <a:cubicBezTo>
                    <a:pt x="454542" y="41211"/>
                    <a:pt x="445650" y="37322"/>
                    <a:pt x="439493" y="28866"/>
                  </a:cubicBezTo>
                  <a:cubicBezTo>
                    <a:pt x="435195" y="22841"/>
                    <a:pt x="434022" y="16135"/>
                    <a:pt x="431873" y="9525"/>
                  </a:cubicBezTo>
                  <a:cubicBezTo>
                    <a:pt x="430505" y="5540"/>
                    <a:pt x="429137" y="1456"/>
                    <a:pt x="424544" y="776"/>
                  </a:cubicBezTo>
                  <a:cubicBezTo>
                    <a:pt x="419561" y="0"/>
                    <a:pt x="417607" y="4178"/>
                    <a:pt x="415653" y="7678"/>
                  </a:cubicBezTo>
                  <a:cubicBezTo>
                    <a:pt x="407836" y="21966"/>
                    <a:pt x="404808" y="37713"/>
                    <a:pt x="405100" y="53653"/>
                  </a:cubicBezTo>
                  <a:cubicBezTo>
                    <a:pt x="405784" y="89519"/>
                    <a:pt x="420929" y="118093"/>
                    <a:pt x="451023" y="138408"/>
                  </a:cubicBezTo>
                  <a:cubicBezTo>
                    <a:pt x="454444" y="140741"/>
                    <a:pt x="455323" y="143072"/>
                    <a:pt x="454248" y="146477"/>
                  </a:cubicBezTo>
                  <a:cubicBezTo>
                    <a:pt x="452196" y="153475"/>
                    <a:pt x="449753" y="160278"/>
                    <a:pt x="447604" y="167276"/>
                  </a:cubicBezTo>
                  <a:cubicBezTo>
                    <a:pt x="446236" y="171748"/>
                    <a:pt x="444183" y="172720"/>
                    <a:pt x="439396" y="170774"/>
                  </a:cubicBezTo>
                  <a:cubicBezTo>
                    <a:pt x="422883" y="163875"/>
                    <a:pt x="408617" y="153668"/>
                    <a:pt x="396013" y="141325"/>
                  </a:cubicBezTo>
                  <a:cubicBezTo>
                    <a:pt x="374615" y="120622"/>
                    <a:pt x="355269" y="97780"/>
                    <a:pt x="331135" y="79895"/>
                  </a:cubicBezTo>
                  <a:cubicBezTo>
                    <a:pt x="325467" y="75715"/>
                    <a:pt x="319801" y="71829"/>
                    <a:pt x="313937" y="68133"/>
                  </a:cubicBezTo>
                  <a:cubicBezTo>
                    <a:pt x="289315" y="44224"/>
                    <a:pt x="317162" y="24589"/>
                    <a:pt x="323611" y="22258"/>
                  </a:cubicBezTo>
                  <a:cubicBezTo>
                    <a:pt x="330352" y="19828"/>
                    <a:pt x="325956" y="11468"/>
                    <a:pt x="304167" y="11567"/>
                  </a:cubicBezTo>
                  <a:cubicBezTo>
                    <a:pt x="282377" y="11663"/>
                    <a:pt x="262445" y="18953"/>
                    <a:pt x="237041" y="28673"/>
                  </a:cubicBezTo>
                  <a:cubicBezTo>
                    <a:pt x="233329" y="30131"/>
                    <a:pt x="229419" y="31199"/>
                    <a:pt x="225413" y="32074"/>
                  </a:cubicBezTo>
                  <a:cubicBezTo>
                    <a:pt x="202354" y="27701"/>
                    <a:pt x="178415" y="26727"/>
                    <a:pt x="153402" y="29548"/>
                  </a:cubicBezTo>
                  <a:cubicBezTo>
                    <a:pt x="106306" y="34796"/>
                    <a:pt x="68690" y="57054"/>
                    <a:pt x="41038" y="95059"/>
                  </a:cubicBezTo>
                  <a:cubicBezTo>
                    <a:pt x="7816" y="140741"/>
                    <a:pt x="0" y="192643"/>
                    <a:pt x="9575" y="246784"/>
                  </a:cubicBezTo>
                  <a:cubicBezTo>
                    <a:pt x="19639" y="303837"/>
                    <a:pt x="48756" y="351075"/>
                    <a:pt x="93507" y="388012"/>
                  </a:cubicBezTo>
                  <a:cubicBezTo>
                    <a:pt x="139919" y="426306"/>
                    <a:pt x="193366" y="445066"/>
                    <a:pt x="254335" y="441469"/>
                  </a:cubicBezTo>
                  <a:cubicBezTo>
                    <a:pt x="291367" y="439331"/>
                    <a:pt x="332600" y="434375"/>
                    <a:pt x="379109" y="395010"/>
                  </a:cubicBezTo>
                  <a:cubicBezTo>
                    <a:pt x="390833" y="400842"/>
                    <a:pt x="403145" y="403173"/>
                    <a:pt x="423567" y="404923"/>
                  </a:cubicBezTo>
                  <a:cubicBezTo>
                    <a:pt x="439298" y="406381"/>
                    <a:pt x="454444" y="404147"/>
                    <a:pt x="466168" y="401717"/>
                  </a:cubicBezTo>
                  <a:cubicBezTo>
                    <a:pt x="484537" y="397829"/>
                    <a:pt x="483267" y="380818"/>
                    <a:pt x="476623" y="377709"/>
                  </a:cubicBezTo>
                  <a:cubicBezTo>
                    <a:pt x="422786" y="352632"/>
                    <a:pt x="434607" y="362838"/>
                    <a:pt x="423861" y="354575"/>
                  </a:cubicBezTo>
                  <a:cubicBezTo>
                    <a:pt x="451219" y="322209"/>
                    <a:pt x="492453" y="288578"/>
                    <a:pt x="508574" y="179619"/>
                  </a:cubicBezTo>
                  <a:cubicBezTo>
                    <a:pt x="509844" y="170969"/>
                    <a:pt x="508769" y="165525"/>
                    <a:pt x="508574" y="158527"/>
                  </a:cubicBezTo>
                  <a:cubicBezTo>
                    <a:pt x="508476" y="154251"/>
                    <a:pt x="509453" y="152600"/>
                    <a:pt x="514339" y="152113"/>
                  </a:cubicBezTo>
                  <a:cubicBezTo>
                    <a:pt x="527822" y="150558"/>
                    <a:pt x="540915" y="146865"/>
                    <a:pt x="552934" y="140255"/>
                  </a:cubicBezTo>
                  <a:cubicBezTo>
                    <a:pt x="587816" y="121205"/>
                    <a:pt x="601885" y="89907"/>
                    <a:pt x="605207" y="52389"/>
                  </a:cubicBezTo>
                  <a:cubicBezTo>
                    <a:pt x="605697" y="46654"/>
                    <a:pt x="605110" y="40724"/>
                    <a:pt x="599052" y="37713"/>
                  </a:cubicBezTo>
                  <a:close/>
                  <a:moveTo>
                    <a:pt x="295080" y="375375"/>
                  </a:moveTo>
                  <a:cubicBezTo>
                    <a:pt x="242904" y="334359"/>
                    <a:pt x="217598" y="320847"/>
                    <a:pt x="207142" y="321431"/>
                  </a:cubicBezTo>
                  <a:cubicBezTo>
                    <a:pt x="197371" y="322014"/>
                    <a:pt x="199131" y="333192"/>
                    <a:pt x="201279" y="340483"/>
                  </a:cubicBezTo>
                  <a:cubicBezTo>
                    <a:pt x="203527" y="347674"/>
                    <a:pt x="206458" y="352632"/>
                    <a:pt x="210561" y="358949"/>
                  </a:cubicBezTo>
                  <a:cubicBezTo>
                    <a:pt x="213395" y="363129"/>
                    <a:pt x="215350" y="369348"/>
                    <a:pt x="207729" y="374015"/>
                  </a:cubicBezTo>
                  <a:cubicBezTo>
                    <a:pt x="190923" y="384416"/>
                    <a:pt x="161707" y="370515"/>
                    <a:pt x="160339" y="369836"/>
                  </a:cubicBezTo>
                  <a:cubicBezTo>
                    <a:pt x="126337" y="349812"/>
                    <a:pt x="97904" y="323373"/>
                    <a:pt x="77873" y="287218"/>
                  </a:cubicBezTo>
                  <a:cubicBezTo>
                    <a:pt x="58527" y="252419"/>
                    <a:pt x="47291" y="215097"/>
                    <a:pt x="45434" y="175246"/>
                  </a:cubicBezTo>
                  <a:cubicBezTo>
                    <a:pt x="44946" y="165625"/>
                    <a:pt x="47779" y="162220"/>
                    <a:pt x="57355" y="160473"/>
                  </a:cubicBezTo>
                  <a:cubicBezTo>
                    <a:pt x="69959" y="158140"/>
                    <a:pt x="82954" y="157652"/>
                    <a:pt x="95559" y="159499"/>
                  </a:cubicBezTo>
                  <a:cubicBezTo>
                    <a:pt x="148811" y="167276"/>
                    <a:pt x="194147" y="191089"/>
                    <a:pt x="232156" y="228802"/>
                  </a:cubicBezTo>
                  <a:cubicBezTo>
                    <a:pt x="253847" y="250282"/>
                    <a:pt x="270262" y="275943"/>
                    <a:pt x="287166" y="301020"/>
                  </a:cubicBezTo>
                  <a:cubicBezTo>
                    <a:pt x="305144" y="327650"/>
                    <a:pt x="324490" y="353021"/>
                    <a:pt x="349113" y="373820"/>
                  </a:cubicBezTo>
                  <a:cubicBezTo>
                    <a:pt x="357809" y="381110"/>
                    <a:pt x="364746" y="386650"/>
                    <a:pt x="371390" y="390733"/>
                  </a:cubicBezTo>
                  <a:cubicBezTo>
                    <a:pt x="351361" y="392968"/>
                    <a:pt x="317943" y="393456"/>
                    <a:pt x="295080" y="375375"/>
                  </a:cubicBezTo>
                  <a:close/>
                  <a:moveTo>
                    <a:pt x="320093" y="214514"/>
                  </a:moveTo>
                  <a:cubicBezTo>
                    <a:pt x="320093" y="210237"/>
                    <a:pt x="323513" y="206836"/>
                    <a:pt x="327813" y="206836"/>
                  </a:cubicBezTo>
                  <a:cubicBezTo>
                    <a:pt x="328789" y="206836"/>
                    <a:pt x="329669" y="207028"/>
                    <a:pt x="330450" y="207320"/>
                  </a:cubicBezTo>
                  <a:cubicBezTo>
                    <a:pt x="331526" y="207711"/>
                    <a:pt x="332503" y="208294"/>
                    <a:pt x="333284" y="209167"/>
                  </a:cubicBezTo>
                  <a:cubicBezTo>
                    <a:pt x="334653" y="210529"/>
                    <a:pt x="335433" y="212472"/>
                    <a:pt x="335433" y="214514"/>
                  </a:cubicBezTo>
                  <a:cubicBezTo>
                    <a:pt x="335433" y="218791"/>
                    <a:pt x="332014" y="222192"/>
                    <a:pt x="327715" y="222192"/>
                  </a:cubicBezTo>
                  <a:cubicBezTo>
                    <a:pt x="323415" y="222192"/>
                    <a:pt x="320093" y="218791"/>
                    <a:pt x="320093" y="214514"/>
                  </a:cubicBezTo>
                  <a:close/>
                  <a:moveTo>
                    <a:pt x="397772" y="254365"/>
                  </a:moveTo>
                  <a:cubicBezTo>
                    <a:pt x="392789" y="256407"/>
                    <a:pt x="387806" y="258155"/>
                    <a:pt x="383018" y="258350"/>
                  </a:cubicBezTo>
                  <a:cubicBezTo>
                    <a:pt x="375592" y="258738"/>
                    <a:pt x="367482" y="255724"/>
                    <a:pt x="363086" y="252031"/>
                  </a:cubicBezTo>
                  <a:cubicBezTo>
                    <a:pt x="356247" y="246296"/>
                    <a:pt x="351361" y="243090"/>
                    <a:pt x="349308" y="233078"/>
                  </a:cubicBezTo>
                  <a:cubicBezTo>
                    <a:pt x="348429" y="228802"/>
                    <a:pt x="348917" y="222192"/>
                    <a:pt x="349700" y="218402"/>
                  </a:cubicBezTo>
                  <a:cubicBezTo>
                    <a:pt x="351458" y="210237"/>
                    <a:pt x="349504" y="204990"/>
                    <a:pt x="343740" y="200225"/>
                  </a:cubicBezTo>
                  <a:cubicBezTo>
                    <a:pt x="339049" y="196337"/>
                    <a:pt x="333089" y="195269"/>
                    <a:pt x="326542" y="195269"/>
                  </a:cubicBezTo>
                  <a:cubicBezTo>
                    <a:pt x="324099" y="195269"/>
                    <a:pt x="321853" y="194199"/>
                    <a:pt x="320191" y="193324"/>
                  </a:cubicBezTo>
                  <a:cubicBezTo>
                    <a:pt x="317455" y="191964"/>
                    <a:pt x="315209" y="188563"/>
                    <a:pt x="317358" y="184382"/>
                  </a:cubicBezTo>
                  <a:cubicBezTo>
                    <a:pt x="318041" y="183023"/>
                    <a:pt x="321365" y="179718"/>
                    <a:pt x="322145" y="179135"/>
                  </a:cubicBezTo>
                  <a:cubicBezTo>
                    <a:pt x="331037" y="174079"/>
                    <a:pt x="341297" y="175733"/>
                    <a:pt x="350774" y="179523"/>
                  </a:cubicBezTo>
                  <a:cubicBezTo>
                    <a:pt x="359569" y="183119"/>
                    <a:pt x="366213" y="189729"/>
                    <a:pt x="375787" y="199059"/>
                  </a:cubicBezTo>
                  <a:cubicBezTo>
                    <a:pt x="385558" y="210333"/>
                    <a:pt x="387316" y="213446"/>
                    <a:pt x="392886" y="221900"/>
                  </a:cubicBezTo>
                  <a:cubicBezTo>
                    <a:pt x="397284" y="228510"/>
                    <a:pt x="401290" y="235313"/>
                    <a:pt x="404026" y="243090"/>
                  </a:cubicBezTo>
                  <a:cubicBezTo>
                    <a:pt x="405687" y="247951"/>
                    <a:pt x="403537" y="251935"/>
                    <a:pt x="397772" y="254365"/>
                  </a:cubicBezTo>
                  <a:close/>
                </a:path>
              </a:pathLst>
            </a:custGeom>
            <a:solidFill>
              <a:srgbClr val="4D6BFE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455158" y="5455920"/>
              <a:ext cx="1590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DeepSeek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473791" y="6027420"/>
              <a:ext cx="27110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Revise the same p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5829300" y="6486525"/>
              <a:ext cx="1" cy="371475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410075" y="7000875"/>
              <a:ext cx="2838450" cy="1419225"/>
            </a:xfrm>
            <a:prstGeom prst="roundRect">
              <a:avLst>
                <a:gd name="adj" fmla="val 8054"/>
              </a:avLst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4638675" y="7181850"/>
              <a:ext cx="1038225" cy="1057275"/>
            </a:xfrm>
            <a:prstGeom prst="roundRect">
              <a:avLst>
                <a:gd name="adj" fmla="val 6422"/>
              </a:avLst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4638675" y="7400925"/>
              <a:ext cx="1038225" cy="9525"/>
            </a:xfrm>
            <a:custGeom>
              <a:avLst/>
              <a:gdLst/>
              <a:ahLst/>
              <a:cxnLst/>
              <a:rect l="l" t="t" r="r" b="b"/>
              <a:pathLst>
                <a:path w="1038225" h="9525">
                  <a:moveTo>
                    <a:pt x="0" y="0"/>
                  </a:moveTo>
                  <a:lnTo>
                    <a:pt x="10382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4724400" y="72675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4848225" y="72675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4972050" y="72675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929914" y="7502842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4791075" y="7991475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4791075" y="811530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5981700" y="7181850"/>
              <a:ext cx="1038225" cy="1057275"/>
            </a:xfrm>
            <a:prstGeom prst="roundRect">
              <a:avLst>
                <a:gd name="adj" fmla="val 6422"/>
              </a:avLst>
            </a:prstGeom>
            <a:solidFill>
              <a:schemeClr val="lt1"/>
            </a:solidFill>
            <a:ln w="23812">
              <a:solidFill>
                <a:schemeClr val="accent2"/>
              </a:solidFill>
            </a:ln>
          </p:spPr>
        </p:sp>
        <p:sp>
          <p:nvSpPr>
            <p:cNvPr id="86" name="Line 86"/>
            <p:cNvSpPr/>
            <p:nvPr/>
          </p:nvSpPr>
          <p:spPr>
            <a:xfrm>
              <a:off x="5981700" y="7400925"/>
              <a:ext cx="1038225" cy="9525"/>
            </a:xfrm>
            <a:custGeom>
              <a:avLst/>
              <a:gdLst/>
              <a:ahLst/>
              <a:cxnLst/>
              <a:rect l="l" t="t" r="r" b="b"/>
              <a:pathLst>
                <a:path w="1038225" h="9525">
                  <a:moveTo>
                    <a:pt x="0" y="0"/>
                  </a:moveTo>
                  <a:lnTo>
                    <a:pt x="10382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6067425" y="72675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6191250" y="72675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6315075" y="726757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72939" y="7502842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91" name="Line 91"/>
            <p:cNvSpPr/>
            <p:nvPr/>
          </p:nvSpPr>
          <p:spPr>
            <a:xfrm>
              <a:off x="6134100" y="7991475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2" name="Line 92"/>
            <p:cNvSpPr/>
            <p:nvPr/>
          </p:nvSpPr>
          <p:spPr>
            <a:xfrm>
              <a:off x="6134100" y="811530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05284" y="8558212"/>
              <a:ext cx="32480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Separate candidate pair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214589" y="1892618"/>
              <a:ext cx="225887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Mismatched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9839325" y="2505075"/>
              <a:ext cx="476250" cy="476250"/>
            </a:xfrm>
            <a:prstGeom prst="ellipse">
              <a:avLst/>
            </a:prstGeom>
            <a:solidFill>
              <a:schemeClr val="lt1"/>
            </a:solidFill>
            <a:ln w="23812">
              <a:solidFill>
                <a:schemeClr val="accent3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959658" y="2572702"/>
              <a:ext cx="2355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97" name="Line 97"/>
            <p:cNvSpPr/>
            <p:nvPr/>
          </p:nvSpPr>
          <p:spPr>
            <a:xfrm>
              <a:off x="10077450" y="3000375"/>
              <a:ext cx="1" cy="266700"/>
            </a:xfrm>
            <a:prstGeom prst="line">
              <a:avLst/>
            </a:prstGeom>
            <a:noFill/>
            <a:ln w="23812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587233" y="2938462"/>
              <a:ext cx="11206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Probe F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9410700" y="3419475"/>
              <a:ext cx="1333500" cy="1352550"/>
            </a:xfrm>
            <a:prstGeom prst="roundRect">
              <a:avLst>
                <a:gd name="adj" fmla="val 1429"/>
              </a:avLst>
            </a:prstGeom>
            <a:solidFill>
              <a:schemeClr val="lt1"/>
            </a:solidFill>
            <a:ln w="23812">
              <a:solidFill>
                <a:schemeClr val="accent3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690160" y="3566160"/>
              <a:ext cx="7745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D(q)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9572625" y="4010025"/>
              <a:ext cx="1009650" cy="9525"/>
            </a:xfrm>
            <a:custGeom>
              <a:avLst/>
              <a:gdLst/>
              <a:ahLst/>
              <a:cxnLst/>
              <a:rect l="l" t="t" r="r" b="b"/>
              <a:pathLst>
                <a:path w="1009650" h="9525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9610725" y="41814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3" name="Line 103"/>
            <p:cNvSpPr/>
            <p:nvPr/>
          </p:nvSpPr>
          <p:spPr>
            <a:xfrm>
              <a:off x="9782175" y="42100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4" name="Ellipse 104"/>
            <p:cNvSpPr/>
            <p:nvPr/>
          </p:nvSpPr>
          <p:spPr>
            <a:xfrm>
              <a:off x="9610725" y="4381500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5" name="Line 105"/>
            <p:cNvSpPr/>
            <p:nvPr/>
          </p:nvSpPr>
          <p:spPr>
            <a:xfrm>
              <a:off x="9782175" y="441007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9610725" y="45815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7" name="Line 107"/>
            <p:cNvSpPr/>
            <p:nvPr/>
          </p:nvSpPr>
          <p:spPr>
            <a:xfrm>
              <a:off x="9782175" y="4610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7858125" y="3695700"/>
              <a:ext cx="1028700" cy="1076325"/>
            </a:xfrm>
            <a:prstGeom prst="roundRect">
              <a:avLst>
                <a:gd name="adj" fmla="val 6481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7858125" y="3914775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0" name="Ellipse 110"/>
            <p:cNvSpPr/>
            <p:nvPr/>
          </p:nvSpPr>
          <p:spPr>
            <a:xfrm>
              <a:off x="7943850" y="37814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8067675" y="37814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8191500" y="37814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8240825" y="4016692"/>
              <a:ext cx="26330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14" name="Line 114"/>
            <p:cNvSpPr/>
            <p:nvPr/>
          </p:nvSpPr>
          <p:spPr>
            <a:xfrm>
              <a:off x="8010525" y="4524375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15" name="Line 115"/>
            <p:cNvSpPr/>
            <p:nvPr/>
          </p:nvSpPr>
          <p:spPr>
            <a:xfrm>
              <a:off x="8010525" y="46482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910610" y="3252788"/>
              <a:ext cx="9237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Parent</a:t>
              </a:r>
            </a:p>
          </p:txBody>
        </p:sp>
        <p:sp>
          <p:nvSpPr>
            <p:cNvPr id="117" name="Line 117"/>
            <p:cNvSpPr/>
            <p:nvPr/>
          </p:nvSpPr>
          <p:spPr>
            <a:xfrm>
              <a:off x="8362950" y="4838700"/>
              <a:ext cx="533400" cy="400050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118" name="Line 118"/>
            <p:cNvSpPr/>
            <p:nvPr/>
          </p:nvSpPr>
          <p:spPr>
            <a:xfrm flipH="1">
              <a:off x="9772650" y="4838700"/>
              <a:ext cx="304800" cy="400050"/>
            </a:xfrm>
            <a:prstGeom prst="line">
              <a:avLst/>
            </a:prstGeom>
            <a:noFill/>
            <a:ln w="23812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8039100" y="5238750"/>
              <a:ext cx="2609850" cy="7429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8242876" y="5380943"/>
              <a:ext cx="605697" cy="445066"/>
            </a:xfrm>
            <a:custGeom>
              <a:avLst/>
              <a:gdLst/>
              <a:ahLst/>
              <a:cxnLst/>
              <a:rect l="l" t="t" r="r" b="b"/>
              <a:pathLst>
                <a:path w="605697" h="445066">
                  <a:moveTo>
                    <a:pt x="599052" y="37713"/>
                  </a:moveTo>
                  <a:cubicBezTo>
                    <a:pt x="592701" y="34601"/>
                    <a:pt x="589966" y="40531"/>
                    <a:pt x="586252" y="43544"/>
                  </a:cubicBezTo>
                  <a:cubicBezTo>
                    <a:pt x="584981" y="44516"/>
                    <a:pt x="583907" y="45779"/>
                    <a:pt x="582832" y="46946"/>
                  </a:cubicBezTo>
                  <a:cubicBezTo>
                    <a:pt x="573550" y="56859"/>
                    <a:pt x="562705" y="63372"/>
                    <a:pt x="548536" y="62594"/>
                  </a:cubicBezTo>
                  <a:cubicBezTo>
                    <a:pt x="527822" y="61427"/>
                    <a:pt x="510137" y="67941"/>
                    <a:pt x="494503" y="83784"/>
                  </a:cubicBezTo>
                  <a:cubicBezTo>
                    <a:pt x="491181" y="64248"/>
                    <a:pt x="480141" y="52582"/>
                    <a:pt x="463334" y="45099"/>
                  </a:cubicBezTo>
                  <a:cubicBezTo>
                    <a:pt x="454542" y="41211"/>
                    <a:pt x="445650" y="37322"/>
                    <a:pt x="439493" y="28866"/>
                  </a:cubicBezTo>
                  <a:cubicBezTo>
                    <a:pt x="435195" y="22841"/>
                    <a:pt x="434022" y="16135"/>
                    <a:pt x="431873" y="9525"/>
                  </a:cubicBezTo>
                  <a:cubicBezTo>
                    <a:pt x="430505" y="5540"/>
                    <a:pt x="429137" y="1456"/>
                    <a:pt x="424544" y="776"/>
                  </a:cubicBezTo>
                  <a:cubicBezTo>
                    <a:pt x="419561" y="0"/>
                    <a:pt x="417607" y="4178"/>
                    <a:pt x="415653" y="7678"/>
                  </a:cubicBezTo>
                  <a:cubicBezTo>
                    <a:pt x="407836" y="21966"/>
                    <a:pt x="404808" y="37713"/>
                    <a:pt x="405100" y="53653"/>
                  </a:cubicBezTo>
                  <a:cubicBezTo>
                    <a:pt x="405784" y="89519"/>
                    <a:pt x="420929" y="118093"/>
                    <a:pt x="451023" y="138408"/>
                  </a:cubicBezTo>
                  <a:cubicBezTo>
                    <a:pt x="454444" y="140741"/>
                    <a:pt x="455323" y="143072"/>
                    <a:pt x="454248" y="146477"/>
                  </a:cubicBezTo>
                  <a:cubicBezTo>
                    <a:pt x="452196" y="153475"/>
                    <a:pt x="449753" y="160278"/>
                    <a:pt x="447604" y="167276"/>
                  </a:cubicBezTo>
                  <a:cubicBezTo>
                    <a:pt x="446236" y="171748"/>
                    <a:pt x="444183" y="172720"/>
                    <a:pt x="439396" y="170774"/>
                  </a:cubicBezTo>
                  <a:cubicBezTo>
                    <a:pt x="422883" y="163875"/>
                    <a:pt x="408617" y="153668"/>
                    <a:pt x="396013" y="141325"/>
                  </a:cubicBezTo>
                  <a:cubicBezTo>
                    <a:pt x="374615" y="120622"/>
                    <a:pt x="355269" y="97780"/>
                    <a:pt x="331135" y="79895"/>
                  </a:cubicBezTo>
                  <a:cubicBezTo>
                    <a:pt x="325467" y="75715"/>
                    <a:pt x="319801" y="71829"/>
                    <a:pt x="313937" y="68133"/>
                  </a:cubicBezTo>
                  <a:cubicBezTo>
                    <a:pt x="289315" y="44224"/>
                    <a:pt x="317162" y="24589"/>
                    <a:pt x="323611" y="22258"/>
                  </a:cubicBezTo>
                  <a:cubicBezTo>
                    <a:pt x="330352" y="19828"/>
                    <a:pt x="325956" y="11468"/>
                    <a:pt x="304167" y="11567"/>
                  </a:cubicBezTo>
                  <a:cubicBezTo>
                    <a:pt x="282377" y="11663"/>
                    <a:pt x="262445" y="18953"/>
                    <a:pt x="237041" y="28673"/>
                  </a:cubicBezTo>
                  <a:cubicBezTo>
                    <a:pt x="233329" y="30131"/>
                    <a:pt x="229419" y="31199"/>
                    <a:pt x="225413" y="32074"/>
                  </a:cubicBezTo>
                  <a:cubicBezTo>
                    <a:pt x="202354" y="27701"/>
                    <a:pt x="178415" y="26727"/>
                    <a:pt x="153402" y="29548"/>
                  </a:cubicBezTo>
                  <a:cubicBezTo>
                    <a:pt x="106306" y="34796"/>
                    <a:pt x="68690" y="57054"/>
                    <a:pt x="41038" y="95059"/>
                  </a:cubicBezTo>
                  <a:cubicBezTo>
                    <a:pt x="7816" y="140741"/>
                    <a:pt x="0" y="192643"/>
                    <a:pt x="9575" y="246784"/>
                  </a:cubicBezTo>
                  <a:cubicBezTo>
                    <a:pt x="19639" y="303837"/>
                    <a:pt x="48756" y="351075"/>
                    <a:pt x="93507" y="388012"/>
                  </a:cubicBezTo>
                  <a:cubicBezTo>
                    <a:pt x="139919" y="426306"/>
                    <a:pt x="193366" y="445066"/>
                    <a:pt x="254335" y="441469"/>
                  </a:cubicBezTo>
                  <a:cubicBezTo>
                    <a:pt x="291367" y="439331"/>
                    <a:pt x="332600" y="434375"/>
                    <a:pt x="379109" y="395010"/>
                  </a:cubicBezTo>
                  <a:cubicBezTo>
                    <a:pt x="390833" y="400842"/>
                    <a:pt x="403145" y="403173"/>
                    <a:pt x="423567" y="404923"/>
                  </a:cubicBezTo>
                  <a:cubicBezTo>
                    <a:pt x="439298" y="406381"/>
                    <a:pt x="454444" y="404147"/>
                    <a:pt x="466168" y="401717"/>
                  </a:cubicBezTo>
                  <a:cubicBezTo>
                    <a:pt x="484537" y="397829"/>
                    <a:pt x="483267" y="380818"/>
                    <a:pt x="476623" y="377709"/>
                  </a:cubicBezTo>
                  <a:cubicBezTo>
                    <a:pt x="422786" y="352632"/>
                    <a:pt x="434607" y="362838"/>
                    <a:pt x="423861" y="354575"/>
                  </a:cubicBezTo>
                  <a:cubicBezTo>
                    <a:pt x="451219" y="322209"/>
                    <a:pt x="492453" y="288578"/>
                    <a:pt x="508574" y="179619"/>
                  </a:cubicBezTo>
                  <a:cubicBezTo>
                    <a:pt x="509844" y="170969"/>
                    <a:pt x="508769" y="165525"/>
                    <a:pt x="508574" y="158527"/>
                  </a:cubicBezTo>
                  <a:cubicBezTo>
                    <a:pt x="508476" y="154251"/>
                    <a:pt x="509453" y="152600"/>
                    <a:pt x="514339" y="152113"/>
                  </a:cubicBezTo>
                  <a:cubicBezTo>
                    <a:pt x="527822" y="150558"/>
                    <a:pt x="540915" y="146865"/>
                    <a:pt x="552934" y="140255"/>
                  </a:cubicBezTo>
                  <a:cubicBezTo>
                    <a:pt x="587816" y="121205"/>
                    <a:pt x="601885" y="89907"/>
                    <a:pt x="605207" y="52389"/>
                  </a:cubicBezTo>
                  <a:cubicBezTo>
                    <a:pt x="605697" y="46654"/>
                    <a:pt x="605110" y="40724"/>
                    <a:pt x="599052" y="37713"/>
                  </a:cubicBezTo>
                  <a:close/>
                  <a:moveTo>
                    <a:pt x="295080" y="375375"/>
                  </a:moveTo>
                  <a:cubicBezTo>
                    <a:pt x="242904" y="334359"/>
                    <a:pt x="217598" y="320847"/>
                    <a:pt x="207142" y="321431"/>
                  </a:cubicBezTo>
                  <a:cubicBezTo>
                    <a:pt x="197371" y="322014"/>
                    <a:pt x="199131" y="333192"/>
                    <a:pt x="201279" y="340483"/>
                  </a:cubicBezTo>
                  <a:cubicBezTo>
                    <a:pt x="203527" y="347674"/>
                    <a:pt x="206458" y="352632"/>
                    <a:pt x="210561" y="358949"/>
                  </a:cubicBezTo>
                  <a:cubicBezTo>
                    <a:pt x="213395" y="363129"/>
                    <a:pt x="215350" y="369348"/>
                    <a:pt x="207729" y="374015"/>
                  </a:cubicBezTo>
                  <a:cubicBezTo>
                    <a:pt x="190923" y="384416"/>
                    <a:pt x="161707" y="370515"/>
                    <a:pt x="160339" y="369836"/>
                  </a:cubicBezTo>
                  <a:cubicBezTo>
                    <a:pt x="126337" y="349812"/>
                    <a:pt x="97904" y="323373"/>
                    <a:pt x="77873" y="287218"/>
                  </a:cubicBezTo>
                  <a:cubicBezTo>
                    <a:pt x="58527" y="252419"/>
                    <a:pt x="47291" y="215097"/>
                    <a:pt x="45434" y="175246"/>
                  </a:cubicBezTo>
                  <a:cubicBezTo>
                    <a:pt x="44946" y="165625"/>
                    <a:pt x="47779" y="162220"/>
                    <a:pt x="57355" y="160473"/>
                  </a:cubicBezTo>
                  <a:cubicBezTo>
                    <a:pt x="69959" y="158140"/>
                    <a:pt x="82954" y="157652"/>
                    <a:pt x="95559" y="159499"/>
                  </a:cubicBezTo>
                  <a:cubicBezTo>
                    <a:pt x="148811" y="167276"/>
                    <a:pt x="194147" y="191089"/>
                    <a:pt x="232156" y="228802"/>
                  </a:cubicBezTo>
                  <a:cubicBezTo>
                    <a:pt x="253847" y="250282"/>
                    <a:pt x="270262" y="275943"/>
                    <a:pt x="287166" y="301020"/>
                  </a:cubicBezTo>
                  <a:cubicBezTo>
                    <a:pt x="305144" y="327650"/>
                    <a:pt x="324490" y="353021"/>
                    <a:pt x="349113" y="373820"/>
                  </a:cubicBezTo>
                  <a:cubicBezTo>
                    <a:pt x="357809" y="381110"/>
                    <a:pt x="364746" y="386650"/>
                    <a:pt x="371390" y="390733"/>
                  </a:cubicBezTo>
                  <a:cubicBezTo>
                    <a:pt x="351361" y="392968"/>
                    <a:pt x="317943" y="393456"/>
                    <a:pt x="295080" y="375375"/>
                  </a:cubicBezTo>
                  <a:close/>
                  <a:moveTo>
                    <a:pt x="320093" y="214514"/>
                  </a:moveTo>
                  <a:cubicBezTo>
                    <a:pt x="320093" y="210237"/>
                    <a:pt x="323513" y="206836"/>
                    <a:pt x="327813" y="206836"/>
                  </a:cubicBezTo>
                  <a:cubicBezTo>
                    <a:pt x="328789" y="206836"/>
                    <a:pt x="329669" y="207028"/>
                    <a:pt x="330450" y="207320"/>
                  </a:cubicBezTo>
                  <a:cubicBezTo>
                    <a:pt x="331526" y="207711"/>
                    <a:pt x="332503" y="208294"/>
                    <a:pt x="333284" y="209167"/>
                  </a:cubicBezTo>
                  <a:cubicBezTo>
                    <a:pt x="334653" y="210529"/>
                    <a:pt x="335433" y="212472"/>
                    <a:pt x="335433" y="214514"/>
                  </a:cubicBezTo>
                  <a:cubicBezTo>
                    <a:pt x="335433" y="218791"/>
                    <a:pt x="332014" y="222192"/>
                    <a:pt x="327715" y="222192"/>
                  </a:cubicBezTo>
                  <a:cubicBezTo>
                    <a:pt x="323415" y="222192"/>
                    <a:pt x="320093" y="218791"/>
                    <a:pt x="320093" y="214514"/>
                  </a:cubicBezTo>
                  <a:close/>
                  <a:moveTo>
                    <a:pt x="397772" y="254365"/>
                  </a:moveTo>
                  <a:cubicBezTo>
                    <a:pt x="392789" y="256407"/>
                    <a:pt x="387806" y="258155"/>
                    <a:pt x="383018" y="258350"/>
                  </a:cubicBezTo>
                  <a:cubicBezTo>
                    <a:pt x="375592" y="258738"/>
                    <a:pt x="367482" y="255724"/>
                    <a:pt x="363086" y="252031"/>
                  </a:cubicBezTo>
                  <a:cubicBezTo>
                    <a:pt x="356247" y="246296"/>
                    <a:pt x="351361" y="243090"/>
                    <a:pt x="349308" y="233078"/>
                  </a:cubicBezTo>
                  <a:cubicBezTo>
                    <a:pt x="348429" y="228802"/>
                    <a:pt x="348917" y="222192"/>
                    <a:pt x="349700" y="218402"/>
                  </a:cubicBezTo>
                  <a:cubicBezTo>
                    <a:pt x="351458" y="210237"/>
                    <a:pt x="349504" y="204990"/>
                    <a:pt x="343740" y="200225"/>
                  </a:cubicBezTo>
                  <a:cubicBezTo>
                    <a:pt x="339049" y="196337"/>
                    <a:pt x="333089" y="195269"/>
                    <a:pt x="326542" y="195269"/>
                  </a:cubicBezTo>
                  <a:cubicBezTo>
                    <a:pt x="324099" y="195269"/>
                    <a:pt x="321853" y="194199"/>
                    <a:pt x="320191" y="193324"/>
                  </a:cubicBezTo>
                  <a:cubicBezTo>
                    <a:pt x="317455" y="191964"/>
                    <a:pt x="315209" y="188563"/>
                    <a:pt x="317358" y="184382"/>
                  </a:cubicBezTo>
                  <a:cubicBezTo>
                    <a:pt x="318041" y="183023"/>
                    <a:pt x="321365" y="179718"/>
                    <a:pt x="322145" y="179135"/>
                  </a:cubicBezTo>
                  <a:cubicBezTo>
                    <a:pt x="331037" y="174079"/>
                    <a:pt x="341297" y="175733"/>
                    <a:pt x="350774" y="179523"/>
                  </a:cubicBezTo>
                  <a:cubicBezTo>
                    <a:pt x="359569" y="183119"/>
                    <a:pt x="366213" y="189729"/>
                    <a:pt x="375787" y="199059"/>
                  </a:cubicBezTo>
                  <a:cubicBezTo>
                    <a:pt x="385558" y="210333"/>
                    <a:pt x="387316" y="213446"/>
                    <a:pt x="392886" y="221900"/>
                  </a:cubicBezTo>
                  <a:cubicBezTo>
                    <a:pt x="397284" y="228510"/>
                    <a:pt x="401290" y="235313"/>
                    <a:pt x="404026" y="243090"/>
                  </a:cubicBezTo>
                  <a:cubicBezTo>
                    <a:pt x="405687" y="247951"/>
                    <a:pt x="403537" y="251935"/>
                    <a:pt x="397772" y="254365"/>
                  </a:cubicBezTo>
                  <a:close/>
                </a:path>
              </a:pathLst>
            </a:custGeom>
            <a:solidFill>
              <a:srgbClr val="4D6BFE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8969883" y="5455920"/>
              <a:ext cx="15909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DeepSeek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988516" y="6027420"/>
              <a:ext cx="27110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Revise the same p</a:t>
              </a:r>
            </a:p>
          </p:txBody>
        </p:sp>
        <p:sp>
          <p:nvSpPr>
            <p:cNvPr id="123" name="Line 123"/>
            <p:cNvSpPr/>
            <p:nvPr/>
          </p:nvSpPr>
          <p:spPr>
            <a:xfrm>
              <a:off x="9344025" y="6486525"/>
              <a:ext cx="1" cy="371475"/>
            </a:xfrm>
            <a:prstGeom prst="line">
              <a:avLst/>
            </a:prstGeom>
            <a:noFill/>
            <a:ln w="23812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7924800" y="7000875"/>
              <a:ext cx="2838450" cy="1419225"/>
            </a:xfrm>
            <a:prstGeom prst="roundRect">
              <a:avLst>
                <a:gd name="adj" fmla="val 8054"/>
              </a:avLst>
            </a:prstGeom>
            <a:solidFill>
              <a:schemeClr val="lt1"/>
            </a:solidFill>
            <a:ln w="23812">
              <a:solidFill>
                <a:schemeClr val="accent3"/>
              </a:solidFill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8153400" y="7181850"/>
              <a:ext cx="1038225" cy="1057275"/>
            </a:xfrm>
            <a:prstGeom prst="roundRect">
              <a:avLst>
                <a:gd name="adj" fmla="val 6422"/>
              </a:avLst>
            </a:prstGeom>
            <a:solidFill>
              <a:schemeClr val="lt1"/>
            </a:solidFill>
            <a:ln w="23812">
              <a:solidFill>
                <a:schemeClr val="accent3"/>
              </a:solidFill>
            </a:ln>
          </p:spPr>
        </p:sp>
        <p:sp>
          <p:nvSpPr>
            <p:cNvPr id="126" name="Line 126"/>
            <p:cNvSpPr/>
            <p:nvPr/>
          </p:nvSpPr>
          <p:spPr>
            <a:xfrm>
              <a:off x="8153400" y="7400925"/>
              <a:ext cx="1038225" cy="9525"/>
            </a:xfrm>
            <a:custGeom>
              <a:avLst/>
              <a:gdLst/>
              <a:ahLst/>
              <a:cxnLst/>
              <a:rect l="l" t="t" r="r" b="b"/>
              <a:pathLst>
                <a:path w="1038225" h="9525">
                  <a:moveTo>
                    <a:pt x="0" y="0"/>
                  </a:moveTo>
                  <a:lnTo>
                    <a:pt x="103822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7" name="Ellipse 127"/>
            <p:cNvSpPr/>
            <p:nvPr/>
          </p:nvSpPr>
          <p:spPr>
            <a:xfrm>
              <a:off x="8239125" y="72675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8362950" y="72675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8486775" y="72675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8444639" y="7502842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131" name="Line 131"/>
            <p:cNvSpPr/>
            <p:nvPr/>
          </p:nvSpPr>
          <p:spPr>
            <a:xfrm>
              <a:off x="8305800" y="7991475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2" name="Line 132"/>
            <p:cNvSpPr/>
            <p:nvPr/>
          </p:nvSpPr>
          <p:spPr>
            <a:xfrm>
              <a:off x="8305800" y="811530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9496425" y="7181850"/>
              <a:ext cx="1038225" cy="1057275"/>
            </a:xfrm>
            <a:prstGeom prst="roundRect">
              <a:avLst>
                <a:gd name="adj" fmla="val 6422"/>
              </a:avLst>
            </a:prstGeom>
            <a:solidFill>
              <a:schemeClr val="lt1"/>
            </a:solidFill>
            <a:ln w="23812">
              <a:solidFill>
                <a:schemeClr val="accent3"/>
              </a:solidFill>
            </a:ln>
          </p:spPr>
        </p:sp>
        <p:sp>
          <p:nvSpPr>
            <p:cNvPr id="134" name="Line 134"/>
            <p:cNvSpPr/>
            <p:nvPr/>
          </p:nvSpPr>
          <p:spPr>
            <a:xfrm>
              <a:off x="9496425" y="7400925"/>
              <a:ext cx="1038225" cy="9525"/>
            </a:xfrm>
            <a:custGeom>
              <a:avLst/>
              <a:gdLst/>
              <a:ahLst/>
              <a:cxnLst/>
              <a:rect l="l" t="t" r="r" b="b"/>
              <a:pathLst>
                <a:path w="1038225" h="9525">
                  <a:moveTo>
                    <a:pt x="0" y="0"/>
                  </a:moveTo>
                  <a:lnTo>
                    <a:pt x="103822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5" name="Ellipse 135"/>
            <p:cNvSpPr/>
            <p:nvPr/>
          </p:nvSpPr>
          <p:spPr>
            <a:xfrm>
              <a:off x="9582150" y="72675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9705975" y="72675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9829800" y="726757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9787664" y="7502842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139" name="Line 139"/>
            <p:cNvSpPr/>
            <p:nvPr/>
          </p:nvSpPr>
          <p:spPr>
            <a:xfrm>
              <a:off x="9648825" y="7991475"/>
              <a:ext cx="733425" cy="9525"/>
            </a:xfrm>
            <a:custGeom>
              <a:avLst/>
              <a:gdLst/>
              <a:ahLst/>
              <a:cxnLst/>
              <a:rect l="l" t="t" r="r" b="b"/>
              <a:pathLst>
                <a:path w="733425" h="9525">
                  <a:moveTo>
                    <a:pt x="0" y="0"/>
                  </a:moveTo>
                  <a:lnTo>
                    <a:pt x="7334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0" name="Line 140"/>
            <p:cNvSpPr/>
            <p:nvPr/>
          </p:nvSpPr>
          <p:spPr>
            <a:xfrm>
              <a:off x="9648825" y="811530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7720009" y="8558212"/>
              <a:ext cx="32480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Separate candidate pair</a:t>
              </a:r>
            </a:p>
          </p:txBody>
        </p:sp>
        <p:sp>
          <p:nvSpPr>
            <p:cNvPr id="142" name="Line 142"/>
            <p:cNvSpPr/>
            <p:nvPr/>
          </p:nvSpPr>
          <p:spPr>
            <a:xfrm>
              <a:off x="7534275" y="1952625"/>
              <a:ext cx="9525" cy="6677025"/>
            </a:xfrm>
            <a:custGeom>
              <a:avLst/>
              <a:gdLst/>
              <a:ahLst/>
              <a:cxnLst/>
              <a:rect l="l" t="t" r="r" b="b"/>
              <a:pathLst>
                <a:path w="9525" h="6677025">
                  <a:moveTo>
                    <a:pt x="0" y="0"/>
                  </a:moveTo>
                  <a:lnTo>
                    <a:pt x="0" y="6677025"/>
                  </a:lnTo>
                </a:path>
              </a:pathLst>
            </a:custGeom>
            <a:noFill/>
            <a:ln w="14288">
              <a:solidFill>
                <a:schemeClr val="accent6"/>
              </a:solidFill>
              <a:custDash>
                <a:ds d="333333" sp="466667"/>
              </a:custDash>
            </a:ln>
          </p:spPr>
        </p:sp>
      </p:grpSp>
      <p:grpSp>
        <p:nvGrpSpPr>
          <p:cNvPr id="225" name="evaluation-protocol"/>
          <p:cNvGrpSpPr/>
          <p:nvPr/>
        </p:nvGrpSpPr>
        <p:grpSpPr>
          <a:xfrm>
            <a:off x="11572749" y="342900"/>
            <a:ext cx="5238876" cy="8839962"/>
            <a:chOff x="11572749" y="342900"/>
            <a:chExt cx="5238876" cy="8839962"/>
          </a:xfrm>
        </p:grpSpPr>
        <p:sp>
          <p:nvSpPr>
            <p:cNvPr id="144" name="TextBox 144"/>
            <p:cNvSpPr txBox="1"/>
            <p:nvPr/>
          </p:nvSpPr>
          <p:spPr>
            <a:xfrm>
              <a:off x="11624310" y="342900"/>
              <a:ext cx="25510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2054459" y="375285"/>
              <a:ext cx="34306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Evaluation protocol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2213254" y="922020"/>
              <a:ext cx="39770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 each parent × condition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12087225" y="1476375"/>
              <a:ext cx="2533650" cy="1323975"/>
            </a:xfrm>
            <a:prstGeom prst="roundRect">
              <a:avLst>
                <a:gd name="adj" fmla="val 8633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12296775" y="1628775"/>
              <a:ext cx="933450" cy="1019175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49" name="Line 149"/>
            <p:cNvSpPr/>
            <p:nvPr/>
          </p:nvSpPr>
          <p:spPr>
            <a:xfrm>
              <a:off x="12296775" y="1847850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0" name="Ellipse 150"/>
            <p:cNvSpPr/>
            <p:nvPr/>
          </p:nvSpPr>
          <p:spPr>
            <a:xfrm>
              <a:off x="12382500" y="171450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12506325" y="171450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12630150" y="171450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12535626" y="1949768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154" name="Line 154"/>
            <p:cNvSpPr/>
            <p:nvPr/>
          </p:nvSpPr>
          <p:spPr>
            <a:xfrm>
              <a:off x="12449175" y="240030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55" name="Line 155"/>
            <p:cNvSpPr/>
            <p:nvPr/>
          </p:nvSpPr>
          <p:spPr>
            <a:xfrm>
              <a:off x="12449175" y="25241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56" name="Rectangle 156"/>
            <p:cNvSpPr/>
            <p:nvPr/>
          </p:nvSpPr>
          <p:spPr>
            <a:xfrm>
              <a:off x="13468350" y="1628775"/>
              <a:ext cx="933450" cy="1019175"/>
            </a:xfrm>
            <a:prstGeom prst="roundRect">
              <a:avLst>
                <a:gd name="adj" fmla="val 7143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57" name="Line 157"/>
            <p:cNvSpPr/>
            <p:nvPr/>
          </p:nvSpPr>
          <p:spPr>
            <a:xfrm>
              <a:off x="13468350" y="1847850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8" name="Ellipse 158"/>
            <p:cNvSpPr/>
            <p:nvPr/>
          </p:nvSpPr>
          <p:spPr>
            <a:xfrm>
              <a:off x="13554075" y="171450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13677900" y="171450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13801725" y="171450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3707201" y="1949768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13620750" y="240030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63" name="Line 163"/>
            <p:cNvSpPr/>
            <p:nvPr/>
          </p:nvSpPr>
          <p:spPr>
            <a:xfrm>
              <a:off x="13620750" y="25241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15673485" y="1538288"/>
              <a:ext cx="9237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Parent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15659100" y="1952625"/>
              <a:ext cx="952500" cy="1009650"/>
            </a:xfrm>
            <a:prstGeom prst="roundRect">
              <a:avLst>
                <a:gd name="adj" fmla="val 7000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66" name="Line 166"/>
            <p:cNvSpPr/>
            <p:nvPr/>
          </p:nvSpPr>
          <p:spPr>
            <a:xfrm>
              <a:off x="15659100" y="21717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67" name="Ellipse 167"/>
            <p:cNvSpPr/>
            <p:nvPr/>
          </p:nvSpPr>
          <p:spPr>
            <a:xfrm>
              <a:off x="15744825" y="203835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15868650" y="203835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9" name="Ellipse 169"/>
            <p:cNvSpPr/>
            <p:nvPr/>
          </p:nvSpPr>
          <p:spPr>
            <a:xfrm>
              <a:off x="15992475" y="2038350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16003700" y="2273618"/>
              <a:ext cx="26330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15811500" y="271462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2" name="Line 172"/>
            <p:cNvSpPr/>
            <p:nvPr/>
          </p:nvSpPr>
          <p:spPr>
            <a:xfrm>
              <a:off x="15811500" y="28384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3" name="Line 173"/>
            <p:cNvSpPr/>
            <p:nvPr/>
          </p:nvSpPr>
          <p:spPr>
            <a:xfrm>
              <a:off x="13354050" y="2809875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23812">
              <a:solidFill>
                <a:srgbClr val="526575"/>
              </a:solidFill>
            </a:ln>
          </p:spPr>
        </p:sp>
        <p:sp>
          <p:nvSpPr>
            <p:cNvPr id="174" name="Line 174"/>
            <p:cNvSpPr/>
            <p:nvPr/>
          </p:nvSpPr>
          <p:spPr>
            <a:xfrm>
              <a:off x="12801600" y="30670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23812">
              <a:solidFill>
                <a:srgbClr val="526575"/>
              </a:solidFill>
            </a:ln>
          </p:spPr>
        </p:sp>
        <p:sp>
          <p:nvSpPr>
            <p:cNvPr id="175" name="Line 175"/>
            <p:cNvSpPr/>
            <p:nvPr/>
          </p:nvSpPr>
          <p:spPr>
            <a:xfrm>
              <a:off x="12801600" y="3067050"/>
              <a:ext cx="1" cy="314325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176" name="Line 176"/>
            <p:cNvSpPr/>
            <p:nvPr/>
          </p:nvSpPr>
          <p:spPr>
            <a:xfrm>
              <a:off x="15392400" y="3067050"/>
              <a:ext cx="1" cy="314325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177" name="Line 177"/>
            <p:cNvSpPr/>
            <p:nvPr/>
          </p:nvSpPr>
          <p:spPr>
            <a:xfrm>
              <a:off x="16135350" y="3000375"/>
              <a:ext cx="1" cy="381000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11823957" y="3512820"/>
              <a:ext cx="19552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No selection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14685665" y="3512820"/>
              <a:ext cx="18135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Select vs. p</a:t>
              </a:r>
            </a:p>
          </p:txBody>
        </p:sp>
        <p:sp>
          <p:nvSpPr>
            <p:cNvPr id="180" name="Rectangle 180"/>
            <p:cNvSpPr/>
            <p:nvPr/>
          </p:nvSpPr>
          <p:spPr>
            <a:xfrm>
              <a:off x="11896725" y="4019550"/>
              <a:ext cx="819150" cy="1047750"/>
            </a:xfrm>
            <a:prstGeom prst="roundRect">
              <a:avLst>
                <a:gd name="adj" fmla="val 8140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81" name="Line 181"/>
            <p:cNvSpPr/>
            <p:nvPr/>
          </p:nvSpPr>
          <p:spPr>
            <a:xfrm>
              <a:off x="11896725" y="4238625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82" name="Ellipse 182"/>
            <p:cNvSpPr/>
            <p:nvPr/>
          </p:nvSpPr>
          <p:spPr>
            <a:xfrm>
              <a:off x="11982450" y="41052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3" name="Ellipse 183"/>
            <p:cNvSpPr/>
            <p:nvPr/>
          </p:nvSpPr>
          <p:spPr>
            <a:xfrm>
              <a:off x="12106275" y="41052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12230100" y="41052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5" name="TextBox 185"/>
            <p:cNvSpPr txBox="1"/>
            <p:nvPr/>
          </p:nvSpPr>
          <p:spPr>
            <a:xfrm>
              <a:off x="12078426" y="4340542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186" name="Line 186"/>
            <p:cNvSpPr/>
            <p:nvPr/>
          </p:nvSpPr>
          <p:spPr>
            <a:xfrm>
              <a:off x="12049125" y="481965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87" name="Line 187"/>
            <p:cNvSpPr/>
            <p:nvPr/>
          </p:nvSpPr>
          <p:spPr>
            <a:xfrm>
              <a:off x="12049125" y="494347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88" name="Rectangle 188"/>
            <p:cNvSpPr/>
            <p:nvPr/>
          </p:nvSpPr>
          <p:spPr>
            <a:xfrm>
              <a:off x="12887325" y="4019550"/>
              <a:ext cx="819150" cy="1047750"/>
            </a:xfrm>
            <a:prstGeom prst="roundRect">
              <a:avLst>
                <a:gd name="adj" fmla="val 8140"/>
              </a:avLst>
            </a:prstGeom>
            <a:solidFill>
              <a:schemeClr val="lt1"/>
            </a:solidFill>
            <a:ln w="23812">
              <a:solidFill>
                <a:schemeClr val="accent1"/>
              </a:solidFill>
            </a:ln>
          </p:spPr>
        </p:sp>
        <p:sp>
          <p:nvSpPr>
            <p:cNvPr id="189" name="Line 189"/>
            <p:cNvSpPr/>
            <p:nvPr/>
          </p:nvSpPr>
          <p:spPr>
            <a:xfrm>
              <a:off x="12887325" y="4238625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90" name="Ellipse 190"/>
            <p:cNvSpPr/>
            <p:nvPr/>
          </p:nvSpPr>
          <p:spPr>
            <a:xfrm>
              <a:off x="12973050" y="41052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1" name="Ellipse 191"/>
            <p:cNvSpPr/>
            <p:nvPr/>
          </p:nvSpPr>
          <p:spPr>
            <a:xfrm>
              <a:off x="13096875" y="41052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2" name="Ellipse 192"/>
            <p:cNvSpPr/>
            <p:nvPr/>
          </p:nvSpPr>
          <p:spPr>
            <a:xfrm>
              <a:off x="13220700" y="41052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3" name="TextBox 193"/>
            <p:cNvSpPr txBox="1"/>
            <p:nvPr/>
          </p:nvSpPr>
          <p:spPr>
            <a:xfrm>
              <a:off x="13069026" y="4340542"/>
              <a:ext cx="4557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194" name="Line 194"/>
            <p:cNvSpPr/>
            <p:nvPr/>
          </p:nvSpPr>
          <p:spPr>
            <a:xfrm>
              <a:off x="13039725" y="481965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95" name="Line 195"/>
            <p:cNvSpPr/>
            <p:nvPr/>
          </p:nvSpPr>
          <p:spPr>
            <a:xfrm>
              <a:off x="13039725" y="494347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12094714" y="5262562"/>
              <a:ext cx="141377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Keep both</a:t>
              </a:r>
            </a:p>
          </p:txBody>
        </p:sp>
        <p:sp>
          <p:nvSpPr>
            <p:cNvPr id="197" name="Rectangle 197"/>
            <p:cNvSpPr/>
            <p:nvPr/>
          </p:nvSpPr>
          <p:spPr>
            <a:xfrm>
              <a:off x="14601825" y="4019550"/>
              <a:ext cx="571500" cy="457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14680409" y="4100512"/>
              <a:ext cx="4143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99" name="Line 199"/>
            <p:cNvSpPr/>
            <p:nvPr/>
          </p:nvSpPr>
          <p:spPr>
            <a:xfrm>
              <a:off x="14887575" y="4495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526575"/>
              </a:solidFill>
            </a:ln>
          </p:spPr>
        </p:sp>
        <p:sp>
          <p:nvSpPr>
            <p:cNvPr id="200" name="Rectangle 200"/>
            <p:cNvSpPr/>
            <p:nvPr/>
          </p:nvSpPr>
          <p:spPr>
            <a:xfrm>
              <a:off x="15363825" y="4019550"/>
              <a:ext cx="571500" cy="457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01" name="TextBox 201"/>
            <p:cNvSpPr txBox="1"/>
            <p:nvPr/>
          </p:nvSpPr>
          <p:spPr>
            <a:xfrm>
              <a:off x="15442409" y="4100512"/>
              <a:ext cx="4143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202" name="Line 202"/>
            <p:cNvSpPr/>
            <p:nvPr/>
          </p:nvSpPr>
          <p:spPr>
            <a:xfrm>
              <a:off x="15649575" y="4495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526575"/>
              </a:solidFill>
            </a:ln>
          </p:spPr>
        </p:sp>
        <p:sp>
          <p:nvSpPr>
            <p:cNvPr id="203" name="Rectangle 203"/>
            <p:cNvSpPr/>
            <p:nvPr/>
          </p:nvSpPr>
          <p:spPr>
            <a:xfrm>
              <a:off x="16125825" y="4019550"/>
              <a:ext cx="571500" cy="457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16204409" y="4100512"/>
              <a:ext cx="4143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205" name="Line 205"/>
            <p:cNvSpPr/>
            <p:nvPr/>
          </p:nvSpPr>
          <p:spPr>
            <a:xfrm>
              <a:off x="16411575" y="44958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526575"/>
              </a:solidFill>
            </a:ln>
          </p:spPr>
        </p:sp>
        <p:sp>
          <p:nvSpPr>
            <p:cNvPr id="206" name="Line 206"/>
            <p:cNvSpPr/>
            <p:nvPr/>
          </p:nvSpPr>
          <p:spPr>
            <a:xfrm>
              <a:off x="14887575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526575"/>
              </a:solidFill>
            </a:ln>
          </p:spPr>
        </p:sp>
        <p:sp>
          <p:nvSpPr>
            <p:cNvPr id="207" name="Line 207"/>
            <p:cNvSpPr/>
            <p:nvPr/>
          </p:nvSpPr>
          <p:spPr>
            <a:xfrm>
              <a:off x="15592425" y="4667250"/>
              <a:ext cx="1" cy="276225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208" name="Rectangle 208"/>
            <p:cNvSpPr/>
            <p:nvPr/>
          </p:nvSpPr>
          <p:spPr>
            <a:xfrm>
              <a:off x="14497050" y="5029200"/>
              <a:ext cx="2209800" cy="561975"/>
            </a:xfrm>
            <a:prstGeom prst="roundRect">
              <a:avLst>
                <a:gd name="adj" fmla="val 16949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09" name="TextBox 209"/>
            <p:cNvSpPr txBox="1"/>
            <p:nvPr/>
          </p:nvSpPr>
          <p:spPr>
            <a:xfrm>
              <a:off x="14658201" y="5167312"/>
              <a:ext cx="18874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Each: c* or p</a:t>
              </a:r>
            </a:p>
          </p:txBody>
        </p:sp>
        <p:sp>
          <p:nvSpPr>
            <p:cNvPr id="210" name="Line 210"/>
            <p:cNvSpPr/>
            <p:nvPr/>
          </p:nvSpPr>
          <p:spPr>
            <a:xfrm>
              <a:off x="12801600" y="5629275"/>
              <a:ext cx="1" cy="447675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211" name="Line 211"/>
            <p:cNvSpPr/>
            <p:nvPr/>
          </p:nvSpPr>
          <p:spPr>
            <a:xfrm>
              <a:off x="15592425" y="5648325"/>
              <a:ext cx="1" cy="428625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212" name="Rectangle 212"/>
            <p:cNvSpPr/>
            <p:nvPr/>
          </p:nvSpPr>
          <p:spPr>
            <a:xfrm>
              <a:off x="11715750" y="6181725"/>
              <a:ext cx="5095875" cy="1238250"/>
            </a:xfrm>
            <a:prstGeom prst="roundRect">
              <a:avLst>
                <a:gd name="adj" fmla="val 9231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13" name="Ellipse 213"/>
            <p:cNvSpPr/>
            <p:nvPr/>
          </p:nvSpPr>
          <p:spPr>
            <a:xfrm>
              <a:off x="11915775" y="6477000"/>
              <a:ext cx="514350" cy="5143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12020554" y="6566535"/>
              <a:ext cx="30479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12655296" y="6277928"/>
              <a:ext cx="27826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Independent test</a:t>
              </a:r>
            </a:p>
          </p:txBody>
        </p:sp>
        <p:sp>
          <p:nvSpPr>
            <p:cNvPr id="216" name="TextBox 216"/>
            <p:cNvSpPr txBox="1"/>
            <p:nvPr/>
          </p:nvSpPr>
          <p:spPr>
            <a:xfrm>
              <a:off x="12656820" y="6700838"/>
              <a:ext cx="28770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Release after sealing</a:t>
              </a:r>
            </a:p>
          </p:txBody>
        </p:sp>
        <p:sp>
          <p:nvSpPr>
            <p:cNvPr id="217" name="TextBox 217"/>
            <p:cNvSpPr txBox="1"/>
            <p:nvPr/>
          </p:nvSpPr>
          <p:spPr>
            <a:xfrm>
              <a:off x="12417020" y="7072312"/>
              <a:ext cx="37028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Parent p as payoff baseline</a:t>
              </a:r>
            </a:p>
          </p:txBody>
        </p:sp>
        <p:sp>
          <p:nvSpPr>
            <p:cNvPr id="218" name="Line 218"/>
            <p:cNvSpPr/>
            <p:nvPr/>
          </p:nvSpPr>
          <p:spPr>
            <a:xfrm>
              <a:off x="12801600" y="7439025"/>
              <a:ext cx="1" cy="323850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219" name="Line 219"/>
            <p:cNvSpPr/>
            <p:nvPr/>
          </p:nvSpPr>
          <p:spPr>
            <a:xfrm>
              <a:off x="15592425" y="7439025"/>
              <a:ext cx="1" cy="323850"/>
            </a:xfrm>
            <a:prstGeom prst="line">
              <a:avLst/>
            </a:prstGeom>
            <a:noFill/>
            <a:ln w="23812">
              <a:solidFill>
                <a:srgbClr val="526575"/>
              </a:solidFill>
              <a:tailEnd type="triangle" w="lg" len="lg"/>
            </a:ln>
          </p:spPr>
        </p:sp>
        <p:sp>
          <p:nvSpPr>
            <p:cNvPr id="220" name="TextBox 220"/>
            <p:cNvSpPr txBox="1"/>
            <p:nvPr/>
          </p:nvSpPr>
          <p:spPr>
            <a:xfrm>
              <a:off x="11886692" y="7846695"/>
              <a:ext cx="18298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Raw quality</a:t>
              </a:r>
            </a:p>
          </p:txBody>
        </p:sp>
        <p:sp>
          <p:nvSpPr>
            <p:cNvPr id="221" name="TextBox 221"/>
            <p:cNvSpPr txBox="1"/>
            <p:nvPr/>
          </p:nvSpPr>
          <p:spPr>
            <a:xfrm>
              <a:off x="14480747" y="7846695"/>
              <a:ext cx="22233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Output quality</a:t>
              </a:r>
            </a:p>
          </p:txBody>
        </p:sp>
        <p:sp>
          <p:nvSpPr>
            <p:cNvPr id="222" name="TextBox 222"/>
            <p:cNvSpPr txBox="1"/>
            <p:nvPr/>
          </p:nvSpPr>
          <p:spPr>
            <a:xfrm>
              <a:off x="11572749" y="8253412"/>
              <a:ext cx="245770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Mean gain of both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4607433" y="8253412"/>
              <a:ext cx="19699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Gain of c* or p</a:t>
              </a:r>
            </a:p>
          </p:txBody>
        </p:sp>
        <p:sp>
          <p:nvSpPr>
            <p:cNvPr id="224" name="TextBox 224"/>
            <p:cNvSpPr txBox="1"/>
            <p:nvPr/>
          </p:nvSpPr>
          <p:spPr>
            <a:xfrm>
              <a:off x="12666821" y="8713470"/>
              <a:ext cx="30889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Gain = JH(x) − JH(p)</a:t>
              </a:r>
            </a:p>
          </p:txBody>
        </p:sp>
      </p:grpSp>
      <p:grpSp>
        <p:nvGrpSpPr>
          <p:cNvPr id="227" name="left-divider"/>
          <p:cNvGrpSpPr/>
          <p:nvPr/>
        </p:nvGrpSpPr>
        <p:grpSpPr>
          <a:xfrm>
            <a:off x="3752850" y="266700"/>
            <a:ext cx="9525" cy="8715375"/>
            <a:chOff x="3752850" y="266700"/>
            <a:chExt cx="9525" cy="8715375"/>
          </a:xfrm>
        </p:grpSpPr>
        <p:sp>
          <p:nvSpPr>
            <p:cNvPr id="226" name="Line 226"/>
            <p:cNvSpPr/>
            <p:nvPr/>
          </p:nvSpPr>
          <p:spPr>
            <a:xfrm>
              <a:off x="3752850" y="266700"/>
              <a:ext cx="9525" cy="8715375"/>
            </a:xfrm>
            <a:custGeom>
              <a:avLst/>
              <a:gdLst/>
              <a:ahLst/>
              <a:cxnLst/>
              <a:rect l="l" t="t" r="r" b="b"/>
              <a:pathLst>
                <a:path w="9525" h="8715375">
                  <a:moveTo>
                    <a:pt x="0" y="0"/>
                  </a:moveTo>
                  <a:lnTo>
                    <a:pt x="0" y="871537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  <p:grpSp>
        <p:nvGrpSpPr>
          <p:cNvPr id="229" name="right-divider"/>
          <p:cNvGrpSpPr/>
          <p:nvPr/>
        </p:nvGrpSpPr>
        <p:grpSpPr>
          <a:xfrm>
            <a:off x="11344275" y="266700"/>
            <a:ext cx="9525" cy="8715375"/>
            <a:chOff x="11344275" y="266700"/>
            <a:chExt cx="9525" cy="8715375"/>
          </a:xfrm>
        </p:grpSpPr>
        <p:sp>
          <p:nvSpPr>
            <p:cNvPr id="228" name="Line 228"/>
            <p:cNvSpPr/>
            <p:nvPr/>
          </p:nvSpPr>
          <p:spPr>
            <a:xfrm>
              <a:off x="11344275" y="266700"/>
              <a:ext cx="9525" cy="8715375"/>
            </a:xfrm>
            <a:custGeom>
              <a:avLst/>
              <a:gdLst/>
              <a:ahLst/>
              <a:cxnLst/>
              <a:rect l="l" t="t" r="r" b="b"/>
              <a:pathLst>
                <a:path w="9525" h="8715375">
                  <a:moveTo>
                    <a:pt x="0" y="0"/>
                  </a:moveTo>
                  <a:lnTo>
                    <a:pt x="0" y="871537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eciprocity_method_overview_en">
  <a:themeElements>
    <a:clrScheme name="reciprocity_method_overview_en">
      <a:dk1>
        <a:srgbClr val="202B36"/>
      </a:dk1>
      <a:lt1>
        <a:srgbClr val="FFFFFF"/>
      </a:lt1>
      <a:dk2>
        <a:srgbClr val="1F497D"/>
      </a:dk2>
      <a:lt2>
        <a:srgbClr val="F4F6F8"/>
      </a:lt2>
      <a:accent1>
        <a:srgbClr val="17324D"/>
      </a:accent1>
      <a:accent2>
        <a:srgbClr val="0072B2"/>
      </a:accent2>
      <a:accent3>
        <a:srgbClr val="C47B35"/>
      </a:accent3>
      <a:accent4>
        <a:srgbClr val="17324D"/>
      </a:accent4>
      <a:accent5>
        <a:srgbClr val="526575"/>
      </a:accent5>
      <a:accent6>
        <a:srgbClr val="C9D2DA"/>
      </a:accent6>
      <a:hlink>
        <a:srgbClr val="0072B2"/>
      </a:hlink>
      <a:folHlink>
        <a:srgbClr val="C47B35"/>
      </a:folHlink>
    </a:clrScheme>
    <a:fontScheme name="reciprocity_method_overview_e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ciprocity_method_overview_e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2026-09-25T07:28:04Z</dcterms:created>
  <dcterms:modified xsi:type="dcterms:W3CDTF">2026-09-25T07:28:04Z</dcterms:modified>
  <cp:category/>
  <cp:contentStatus/>
</cp:coreProperties>
</file>